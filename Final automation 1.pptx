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8"/>
  </p:notesMasterIdLst>
  <p:sldIdLst>
    <p:sldId id="257" r:id="rId2"/>
    <p:sldId id="256" r:id="rId3"/>
    <p:sldId id="258" r:id="rId4"/>
    <p:sldId id="281" r:id="rId5"/>
    <p:sldId id="285" r:id="rId6"/>
    <p:sldId id="263" r:id="rId7"/>
    <p:sldId id="283" r:id="rId8"/>
    <p:sldId id="282" r:id="rId9"/>
    <p:sldId id="277" r:id="rId10"/>
    <p:sldId id="269" r:id="rId11"/>
    <p:sldId id="280" r:id="rId12"/>
    <p:sldId id="284" r:id="rId13"/>
    <p:sldId id="271" r:id="rId14"/>
    <p:sldId id="272" r:id="rId15"/>
    <p:sldId id="286" r:id="rId16"/>
    <p:sldId id="2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AD43608-92F4-49CC-BE01-C1D7127B328E}">
          <p14:sldIdLst>
            <p14:sldId id="257"/>
          </p14:sldIdLst>
        </p14:section>
        <p14:section name="Untitled Section" id="{AEBF0624-AB12-40FF-B6DE-F721701FDE48}">
          <p14:sldIdLst>
            <p14:sldId id="256"/>
            <p14:sldId id="258"/>
            <p14:sldId id="281"/>
            <p14:sldId id="285"/>
            <p14:sldId id="263"/>
            <p14:sldId id="283"/>
            <p14:sldId id="282"/>
            <p14:sldId id="277"/>
            <p14:sldId id="269"/>
            <p14:sldId id="280"/>
            <p14:sldId id="284"/>
            <p14:sldId id="271"/>
            <p14:sldId id="272"/>
            <p14:sldId id="286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ivam Patwa" initials="SP" lastIdx="1" clrIdx="0">
    <p:extLst>
      <p:ext uri="{19B8F6BF-5375-455C-9EA6-DF929625EA0E}">
        <p15:presenceInfo xmlns:p15="http://schemas.microsoft.com/office/powerpoint/2012/main" userId="97f14e8e2ad727f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38B107-8B9B-44C0-82D2-C58A754F3B8D}" v="1" dt="2026-03-29T12:04:23.6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23" autoAdjust="0"/>
    <p:restoredTop sz="94660"/>
  </p:normalViewPr>
  <p:slideViewPr>
    <p:cSldViewPr snapToGrid="0">
      <p:cViewPr varScale="1">
        <p:scale>
          <a:sx n="73" d="100"/>
          <a:sy n="73" d="100"/>
        </p:scale>
        <p:origin x="82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3A098B-AA35-4C7C-ADCD-5E7AAF1A236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F8443E-9ED7-49C7-8C1E-357A91A66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8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8443E-9ED7-49C7-8C1E-357A91A66F0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138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F661C-6372-F736-A7D7-2465425D6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161A3F-01A2-D8D7-A0DD-01EB3B8F6B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E68DA-58B5-87E9-D180-824B761A2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C5DC8-626D-46E3-BA69-E14AA171B64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C67E-75E5-55F8-F19B-8B2C26BF6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EA6FB-08E4-C2D0-7A70-DD8977722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3BC33-236B-4CB2-878B-B8A56ED1E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56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2F09-859E-A961-2E9E-15DC68AF5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62E13-B773-2E7E-FF33-87F861EBE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3F914-B4F4-3923-167E-CC6EBEA41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C5DC8-626D-46E3-BA69-E14AA171B64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587C7-D3D3-76E4-7AD3-3F9C3615A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74751-109E-1A3A-E761-ACB8970AB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3BC33-236B-4CB2-878B-B8A56ED1E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10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61D7C-1C42-1452-3F47-1A798CDD3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23B23-5C59-589E-BCD5-C664DD67B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C6D0C-2AD7-8116-0A7C-8C2E1CCF4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C5DC8-626D-46E3-BA69-E14AA171B64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DBFA2-8B67-C0DD-3861-F1165311C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A2C54-B5BD-BE38-671A-4070A0F47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3BC33-236B-4CB2-878B-B8A56ED1E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927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622D3-B413-F95D-9565-399A39984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C6901-DA5F-C8E4-6B46-9BFCD22305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8F637-2ACF-8B25-BDE9-A6F41AAA8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D660F-94E2-C492-7A37-3DF64982A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C5DC8-626D-46E3-BA69-E14AA171B64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D2FDC-BE80-68BA-7B33-888E73713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D4D9F-74AF-1912-C54C-1B9B277C3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3BC33-236B-4CB2-878B-B8A56ED1E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7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B7CA8-FE29-C649-6F1B-57B77115B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36632-B152-BD92-B46D-E26425564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00D619-2D09-2512-6A8C-B55F51A9A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79E248-CEA0-F8F7-9877-0BEA734D6E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316779-AF5B-46C3-66A2-52495F7839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687978-CC5D-A91B-0C48-628386C22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C5DC8-626D-46E3-BA69-E14AA171B64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2F559F-44F8-C510-8C75-E6384F170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A960D4-E87A-E108-9F71-4543FBC58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3BC33-236B-4CB2-878B-B8A56ED1E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555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9C973-A708-C728-11B9-E7E973A02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C8A668-38A0-4087-AAE7-1AC311204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C5DC8-626D-46E3-BA69-E14AA171B64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44E4A5-8CD1-05EB-566B-6950ECBB5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1E22F7-CC9D-1E00-77DE-F18C8711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3BC33-236B-4CB2-878B-B8A56ED1E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815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88F62B-86C2-89BE-0C28-B2823519F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C5DC8-626D-46E3-BA69-E14AA171B64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BDECA3-2870-3330-69D1-F49067B2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7B5C3-364F-13F1-C37D-56EC6F31D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3BC33-236B-4CB2-878B-B8A56ED1E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44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36B2C-0C5D-0078-BC64-DEE90DBC7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9624-0764-6962-942B-783EC7E7B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D43144-752A-5027-6362-21335BC07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939E8-FD73-EEAD-FFE4-6AF7243E9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C5DC8-626D-46E3-BA69-E14AA171B64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B8DC5A-4376-1E4A-5789-3D4168B2B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0C37E8-E132-0A3A-F860-F6D87ADBE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3BC33-236B-4CB2-878B-B8A56ED1E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52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1067-7036-B2CC-EF05-C9FEBA135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4453FE-F9C5-1DE3-7C35-C5124E7CCC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FC9BF3-432A-5454-71BA-5CA2EC0AD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8238D-0E2D-BAA3-6A79-F90FBE905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C5DC8-626D-46E3-BA69-E14AA171B64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5929C-9CC9-EBC2-5C6E-715324129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CF05B-BD5D-C937-8B74-2BC51E4A7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3BC33-236B-4CB2-878B-B8A56ED1E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57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CEF1-86F9-2FBC-FC77-569C14543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A5D985-92AF-F2D7-C87A-DAB388935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38296-D9A6-D16B-4C0B-647D70D9D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C5DC8-626D-46E3-BA69-E14AA171B64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1000F-FC67-16F1-6BEA-7334485A4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BD069-ADB4-BC0E-ACD1-024937D71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3BC33-236B-4CB2-878B-B8A56ED1E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375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3B7D17-CF8A-78C2-A416-591C555A56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31D40C-59F8-5537-C8AC-FCD932386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5B95B-4B85-D294-FD43-E4F9E5F8C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C5DC8-626D-46E3-BA69-E14AA171B64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F9792-1217-9911-27B3-7290AD24C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0638E-09B3-DC86-5FC3-B5D7067A9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3BC33-236B-4CB2-878B-B8A56ED1E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66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F910B4-AD4E-C7FA-F198-B6BD83767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1E1BB-57EF-7460-CF81-150DCF016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76B4C-3326-8368-BF50-195E753CBC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C5DC8-626D-46E3-BA69-E14AA171B64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F5F78-C9CD-B317-1A14-B3A0368EB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0AC34-48ED-7EEB-ACE6-83928AF4A1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F3BC33-236B-4CB2-878B-B8A56ED1E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94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E8B69-2ACB-C25B-39B3-D4B4D5477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4D3B1363-27D0-75E3-B404-6D2BE1854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237" y="138112"/>
            <a:ext cx="9916909" cy="658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674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8F020-1C82-5B84-E2E4-3F706437B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3331" y="562315"/>
            <a:ext cx="8555421" cy="825051"/>
          </a:xfrm>
        </p:spPr>
        <p:txBody>
          <a:bodyPr>
            <a:normAutofit/>
          </a:bodyPr>
          <a:lstStyle/>
          <a:p>
            <a:r>
              <a:rPr lang="en-US" sz="3800" b="1" dirty="0">
                <a:solidFill>
                  <a:srgbClr val="C00000"/>
                </a:solidFill>
                <a:latin typeface="Times New Roman"/>
                <a:cs typeface="Times New Roman"/>
              </a:rPr>
              <a:t>Table of Content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801BC18-3449-8CF2-A9E7-BC91DAE01DA1}"/>
              </a:ext>
            </a:extLst>
          </p:cNvPr>
          <p:cNvCxnSpPr/>
          <p:nvPr/>
        </p:nvCxnSpPr>
        <p:spPr>
          <a:xfrm>
            <a:off x="777766" y="446690"/>
            <a:ext cx="111619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192017A-E5F8-0BCF-03CF-4C7F7A3EB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8" y="95095"/>
            <a:ext cx="692368" cy="6923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79A02C6-A0E3-04DA-45AC-C40E4D565B09}"/>
              </a:ext>
            </a:extLst>
          </p:cNvPr>
          <p:cNvCxnSpPr>
            <a:cxnSpLocks/>
          </p:cNvCxnSpPr>
          <p:nvPr/>
        </p:nvCxnSpPr>
        <p:spPr>
          <a:xfrm>
            <a:off x="0" y="6442841"/>
            <a:ext cx="12192000" cy="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97E5BC-2974-7838-F7BC-439CE5D5E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311505"/>
              </p:ext>
            </p:extLst>
          </p:nvPr>
        </p:nvGraphicFramePr>
        <p:xfrm>
          <a:off x="1073021" y="1338546"/>
          <a:ext cx="9629190" cy="464677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04632">
                  <a:extLst>
                    <a:ext uri="{9D8B030D-6E8A-4147-A177-3AD203B41FA5}">
                      <a16:colId xmlns:a16="http://schemas.microsoft.com/office/drawing/2014/main" val="3377650357"/>
                    </a:ext>
                  </a:extLst>
                </a:gridCol>
                <a:gridCol w="8424558">
                  <a:extLst>
                    <a:ext uri="{9D8B030D-6E8A-4147-A177-3AD203B41FA5}">
                      <a16:colId xmlns:a16="http://schemas.microsoft.com/office/drawing/2014/main" val="232925623"/>
                    </a:ext>
                  </a:extLst>
                </a:gridCol>
              </a:tblGrid>
              <a:tr h="44853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S. No.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Description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929715"/>
                  </a:ext>
                </a:extLst>
              </a:tr>
              <a:tr h="448535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kern="1200" noProof="0" dirty="0">
                          <a:solidFill>
                            <a:schemeClr val="dk1"/>
                          </a:solidFill>
                          <a:effectLst/>
                        </a:rPr>
                        <a:t>Introduction &amp; Packing Pain-Points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769040"/>
                  </a:ext>
                </a:extLst>
              </a:tr>
              <a:tr h="448535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Objective</a:t>
                      </a: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1421364"/>
                  </a:ext>
                </a:extLst>
              </a:tr>
              <a:tr h="104116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 Overview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839293"/>
                  </a:ext>
                </a:extLst>
              </a:tr>
              <a:tr h="448535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Implementation</a:t>
                      </a:r>
                      <a:endParaRPr lang="en-IN" dirty="0">
                        <a:effectLst/>
                      </a:endParaRP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Architecture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Key Modules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73495"/>
                  </a:ext>
                </a:extLst>
              </a:tr>
              <a:tr h="448535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en-US" sz="1800" b="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Challenges &amp; Mitigations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511805"/>
                  </a:ext>
                </a:extLst>
              </a:tr>
              <a:tr h="448535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Future Directions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848003"/>
                  </a:ext>
                </a:extLst>
              </a:tr>
              <a:tr h="448535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Q&amp;A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23812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94F208D-FF9E-A9A6-E85A-8212AC5D750E}"/>
              </a:ext>
            </a:extLst>
          </p:cNvPr>
          <p:cNvSpPr txBox="1"/>
          <p:nvPr/>
        </p:nvSpPr>
        <p:spPr>
          <a:xfrm>
            <a:off x="2701159" y="83937"/>
            <a:ext cx="6074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Madan Mohan Malaviya University of Technology, Gorakhpur</a:t>
            </a:r>
          </a:p>
        </p:txBody>
      </p:sp>
    </p:spTree>
    <p:extLst>
      <p:ext uri="{BB962C8B-B14F-4D97-AF65-F5344CB8AC3E}">
        <p14:creationId xmlns:p14="http://schemas.microsoft.com/office/powerpoint/2010/main" val="1694019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385E1-42F3-5006-B521-103CC9A5B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DBC6-5419-5D8A-5E50-08962E259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3967" y="410617"/>
            <a:ext cx="8648024" cy="902644"/>
          </a:xfrm>
        </p:spPr>
        <p:txBody>
          <a:bodyPr>
            <a:normAutofit/>
          </a:bodyPr>
          <a:lstStyle/>
          <a:p>
            <a:r>
              <a:rPr lang="en-US" altLang="en-US" sz="3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6BCE030-6DFF-813D-1511-F5BB716FB329}"/>
              </a:ext>
            </a:extLst>
          </p:cNvPr>
          <p:cNvCxnSpPr/>
          <p:nvPr/>
        </p:nvCxnSpPr>
        <p:spPr>
          <a:xfrm>
            <a:off x="777766" y="410600"/>
            <a:ext cx="111619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3EDDBD8-11FF-FC0D-66F7-34BDC1980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8" y="100506"/>
            <a:ext cx="692368" cy="6923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A7CB0B-1B63-B8A7-C46B-9FAC3DBFF891}"/>
              </a:ext>
            </a:extLst>
          </p:cNvPr>
          <p:cNvCxnSpPr>
            <a:cxnSpLocks/>
          </p:cNvCxnSpPr>
          <p:nvPr/>
        </p:nvCxnSpPr>
        <p:spPr>
          <a:xfrm>
            <a:off x="0" y="6442841"/>
            <a:ext cx="12192000" cy="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B6992E6-CAEC-8479-0286-D2800D74B4DD}"/>
              </a:ext>
            </a:extLst>
          </p:cNvPr>
          <p:cNvSpPr txBox="1"/>
          <p:nvPr/>
        </p:nvSpPr>
        <p:spPr>
          <a:xfrm>
            <a:off x="2701159" y="41268"/>
            <a:ext cx="6074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Madan Mohan Malaviya University of Technology, Gorakhpur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C40D90-5724-602D-A928-91328D1528E9}"/>
              </a:ext>
            </a:extLst>
          </p:cNvPr>
          <p:cNvSpPr txBox="1"/>
          <p:nvPr/>
        </p:nvSpPr>
        <p:spPr>
          <a:xfrm>
            <a:off x="1878518" y="6068321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A37A201-1AD8-3494-97E4-3C51C71E7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E57C7F-CA1A-4DD5-5A6F-A5B0FF89542D}"/>
              </a:ext>
            </a:extLst>
          </p:cNvPr>
          <p:cNvSpPr txBox="1"/>
          <p:nvPr/>
        </p:nvSpPr>
        <p:spPr>
          <a:xfrm>
            <a:off x="647139" y="1813343"/>
            <a:ext cx="6248184" cy="35887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10000"/>
              </a:lnSpc>
              <a:buFont typeface="Wingdings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Searching Is Time-Consuming</a:t>
            </a:r>
            <a:r>
              <a:rPr lang="en-US" sz="22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 </a:t>
            </a:r>
          </a:p>
          <a:p>
            <a:pPr marL="396000">
              <a:lnSpc>
                <a:spcPct val="11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job platforms </a:t>
            </a: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search &amp; filtering.       Repetitive form filling. Missed opportunities due to limited time.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Wingdings" panose="020B0604020202020204" pitchFamily="34" charset="0"/>
              <a:buChar char="Ø"/>
            </a:pPr>
            <a:endParaRPr lang="en-US" sz="24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Wingdings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Job Search Experience  </a:t>
            </a:r>
          </a:p>
          <a:p>
            <a:pPr marL="396000">
              <a:lnSpc>
                <a:spcPct val="11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time spent exploring multiple platforms.         Manual application process increases effort. Repeated data entry leads to frustration. High chances of missing suitable opportunities.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74ECF9-B12A-47FF-BE87-028809E59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5" r="5255"/>
          <a:stretch/>
        </p:blipFill>
        <p:spPr>
          <a:xfrm>
            <a:off x="7291700" y="1813343"/>
            <a:ext cx="3960441" cy="319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11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532A9-F41C-DD30-7FA8-A3CB99676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008DA-067E-07C2-8528-EE0EF6B18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4636" y="604425"/>
            <a:ext cx="8648024" cy="902644"/>
          </a:xfrm>
        </p:spPr>
        <p:txBody>
          <a:bodyPr>
            <a:normAutofit/>
          </a:bodyPr>
          <a:lstStyle/>
          <a:p>
            <a:r>
              <a:rPr lang="en-US" sz="3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5C482A-8669-9B82-4CB7-26A520C4EE7C}"/>
              </a:ext>
            </a:extLst>
          </p:cNvPr>
          <p:cNvCxnSpPr/>
          <p:nvPr/>
        </p:nvCxnSpPr>
        <p:spPr>
          <a:xfrm>
            <a:off x="777766" y="410600"/>
            <a:ext cx="111619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56A278C-903B-C4DE-EDDD-250370854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8" y="100506"/>
            <a:ext cx="692368" cy="6923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96D88E8-7179-9F38-BB55-54344DBFFDE5}"/>
              </a:ext>
            </a:extLst>
          </p:cNvPr>
          <p:cNvCxnSpPr>
            <a:cxnSpLocks/>
          </p:cNvCxnSpPr>
          <p:nvPr/>
        </p:nvCxnSpPr>
        <p:spPr>
          <a:xfrm>
            <a:off x="0" y="6442841"/>
            <a:ext cx="12192000" cy="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6FDD535-6210-AACF-753E-8F249BBF7E3E}"/>
              </a:ext>
            </a:extLst>
          </p:cNvPr>
          <p:cNvSpPr txBox="1"/>
          <p:nvPr/>
        </p:nvSpPr>
        <p:spPr>
          <a:xfrm>
            <a:off x="2701159" y="41268"/>
            <a:ext cx="6074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Madan Mohan Malaviya University of Technology, Gorakhpur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313A18-1DDE-7385-439D-3F7E7B383606}"/>
              </a:ext>
            </a:extLst>
          </p:cNvPr>
          <p:cNvSpPr txBox="1"/>
          <p:nvPr/>
        </p:nvSpPr>
        <p:spPr>
          <a:xfrm>
            <a:off x="1878518" y="6068321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CE4ACA8-C65A-65A4-3F34-EFF62AF34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515764-CE72-1E1D-BF9F-196B9D55B856}"/>
              </a:ext>
            </a:extLst>
          </p:cNvPr>
          <p:cNvSpPr txBox="1"/>
          <p:nvPr/>
        </p:nvSpPr>
        <p:spPr>
          <a:xfrm>
            <a:off x="1347697" y="1982631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opportunities are scattered across multiple platforms, making the search process time-consuming and inefficient.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personalization leads to irrelevant job recommendations that do not match user skills and preferences.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process is repetitive, requiring users to fill the same details multiple times.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Repetitive manual form filling makes the application process slow and tiring.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centralized system to track and manage job applications effectively.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865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FBDC1-6CE8-FEB8-B294-79498D4EB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BB0C4-03A2-5E76-A2CC-3CFD07A56F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3967" y="410617"/>
            <a:ext cx="8648024" cy="902644"/>
          </a:xfrm>
        </p:spPr>
        <p:txBody>
          <a:bodyPr>
            <a:normAutofit/>
          </a:bodyPr>
          <a:lstStyle/>
          <a:p>
            <a:r>
              <a:rPr lang="en-US" sz="3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6EA09B-B2D3-8C6C-F0E6-A0C199021CAA}"/>
              </a:ext>
            </a:extLst>
          </p:cNvPr>
          <p:cNvCxnSpPr/>
          <p:nvPr/>
        </p:nvCxnSpPr>
        <p:spPr>
          <a:xfrm>
            <a:off x="777766" y="410600"/>
            <a:ext cx="111619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ABE780F-2BE4-611D-374C-0E226929A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8" y="100506"/>
            <a:ext cx="692368" cy="6923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622AEF-5DA4-12B8-D24F-E1FDB9D9DC59}"/>
              </a:ext>
            </a:extLst>
          </p:cNvPr>
          <p:cNvCxnSpPr>
            <a:cxnSpLocks/>
          </p:cNvCxnSpPr>
          <p:nvPr/>
        </p:nvCxnSpPr>
        <p:spPr>
          <a:xfrm>
            <a:off x="0" y="6442841"/>
            <a:ext cx="12192000" cy="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14AD137-196A-A491-E25B-0A17FEFB8F2B}"/>
              </a:ext>
            </a:extLst>
          </p:cNvPr>
          <p:cNvSpPr txBox="1"/>
          <p:nvPr/>
        </p:nvSpPr>
        <p:spPr>
          <a:xfrm>
            <a:off x="2701159" y="41268"/>
            <a:ext cx="6074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Madan Mohan Malaviya University of Technology, Gorakhpur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C3734-FF80-414C-034F-84D7C36A3A7C}"/>
              </a:ext>
            </a:extLst>
          </p:cNvPr>
          <p:cNvSpPr txBox="1"/>
          <p:nvPr/>
        </p:nvSpPr>
        <p:spPr>
          <a:xfrm>
            <a:off x="1878518" y="6068321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25150A3F-454C-ACCE-AD62-15CB22115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A14896-9997-6110-BFEA-EFA49121E674}"/>
              </a:ext>
            </a:extLst>
          </p:cNvPr>
          <p:cNvSpPr txBox="1"/>
          <p:nvPr/>
        </p:nvSpPr>
        <p:spPr>
          <a:xfrm>
            <a:off x="1112017" y="1377323"/>
            <a:ext cx="9967966" cy="455509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system that collects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listings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multiple platforms into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unified 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parsing module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extracts key information such as skills, education, and experience.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matching system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recommends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jobs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user profile and skills.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extension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identifies form fields and automatically fills them using user profile data,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manual effort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errors.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effort by enabling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or one-click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job application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51539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A0397-A9D9-7B43-732F-0E192E00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2CEBBF-BAD8-53DB-1F94-94F6D1D027F4}"/>
              </a:ext>
            </a:extLst>
          </p:cNvPr>
          <p:cNvCxnSpPr/>
          <p:nvPr/>
        </p:nvCxnSpPr>
        <p:spPr>
          <a:xfrm>
            <a:off x="777766" y="446690"/>
            <a:ext cx="111619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290B733-84DE-371C-10C4-5827BBD4F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8" y="0"/>
            <a:ext cx="692368" cy="6923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C08C0CE-FC77-0FAF-BB30-826D8F8D45B0}"/>
              </a:ext>
            </a:extLst>
          </p:cNvPr>
          <p:cNvSpPr txBox="1"/>
          <p:nvPr/>
        </p:nvSpPr>
        <p:spPr>
          <a:xfrm>
            <a:off x="2701159" y="83937"/>
            <a:ext cx="6074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Madan Mohan Malaviya University of Technology, Gorakhpur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06742BB-FFA2-D0CD-0F56-E21C47CBF8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3243" y="1081173"/>
            <a:ext cx="6322541" cy="34873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800" b="1" dirty="0">
                <a:solidFill>
                  <a:srgbClr val="C00000"/>
                </a:solidFill>
                <a:latin typeface="Times New Roman"/>
                <a:ea typeface="+mj-lt"/>
                <a:cs typeface="+mj-lt"/>
              </a:rPr>
              <a:t>Solution Overview </a:t>
            </a:r>
            <a:endParaRPr lang="en-US" sz="3800" b="1" dirty="0">
              <a:solidFill>
                <a:srgbClr val="C00000"/>
              </a:solidFill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635C20-EB14-D14F-2A12-03D71969D5C3}"/>
              </a:ext>
            </a:extLst>
          </p:cNvPr>
          <p:cNvSpPr txBox="1"/>
          <p:nvPr/>
        </p:nvSpPr>
        <p:spPr>
          <a:xfrm>
            <a:off x="292990" y="1744954"/>
            <a:ext cx="6745889" cy="37471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Job Platform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One-stop solution for job search and applications.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900"/>
              </a:spcBef>
              <a:buFont typeface="Wingdings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Recommendations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Suggest jobs based on skills &amp; resume.</a:t>
            </a:r>
          </a:p>
          <a:p>
            <a:pPr marL="342900" indent="-342900" algn="just">
              <a:spcBef>
                <a:spcPts val="900"/>
              </a:spcBef>
              <a:buFont typeface="Wingdings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Parsing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Extract and store user details.</a:t>
            </a:r>
          </a:p>
          <a:p>
            <a:pPr marL="342900" indent="-342900" algn="just">
              <a:spcBef>
                <a:spcPts val="900"/>
              </a:spcBef>
              <a:buFont typeface="Wingdings"/>
              <a:buChar char="Ø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AutoApply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Apply jobs instantly with user consent</a:t>
            </a: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spcBef>
                <a:spcPts val="900"/>
              </a:spcBef>
              <a:buFont typeface="Wingdings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Extension Support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 autofill on company sites</a:t>
            </a: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en-US" b="1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900"/>
              </a:spcBef>
              <a:buFont typeface="Wingdings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Tracking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Monitor application status, organize job applications, and manage updates efficiently.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53F065-0EAF-86F7-43DE-9C6C2F879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9545" y="1619267"/>
            <a:ext cx="4425414" cy="469371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40493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A68A0-AA50-ECDB-855D-5C4A52BEF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181E54-F77D-4211-10F4-32B684A20B49}"/>
              </a:ext>
            </a:extLst>
          </p:cNvPr>
          <p:cNvCxnSpPr/>
          <p:nvPr/>
        </p:nvCxnSpPr>
        <p:spPr>
          <a:xfrm>
            <a:off x="777766" y="446690"/>
            <a:ext cx="111619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B9D780B-72E1-F605-4FD8-24C459FD7A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8" y="0"/>
            <a:ext cx="692368" cy="6923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E9AD71A-25B8-8ECE-13B3-982250B6119F}"/>
              </a:ext>
            </a:extLst>
          </p:cNvPr>
          <p:cNvSpPr txBox="1"/>
          <p:nvPr/>
        </p:nvSpPr>
        <p:spPr>
          <a:xfrm>
            <a:off x="2701159" y="83937"/>
            <a:ext cx="6074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Madan Mohan Malaviya University of Technology, Gorakhpur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A96AB56-1F43-29F6-C347-AD0E580977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3243" y="1081173"/>
            <a:ext cx="6322541" cy="34873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800" b="1" dirty="0">
                <a:solidFill>
                  <a:srgbClr val="C00000"/>
                </a:solidFill>
                <a:latin typeface="Times New Roman"/>
                <a:ea typeface="+mj-lt"/>
                <a:cs typeface="+mj-lt"/>
              </a:rPr>
              <a:t>Workflow </a:t>
            </a:r>
            <a:endParaRPr lang="en-US" sz="3800" b="1" dirty="0">
              <a:solidFill>
                <a:srgbClr val="C00000"/>
              </a:solidFill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4B932F-9BD0-533E-4DEE-1C0DC2C61CE2}"/>
              </a:ext>
            </a:extLst>
          </p:cNvPr>
          <p:cNvSpPr txBox="1"/>
          <p:nvPr/>
        </p:nvSpPr>
        <p:spPr>
          <a:xfrm>
            <a:off x="971743" y="1747069"/>
            <a:ext cx="10248514" cy="402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logs into the system and uploads their resume to get started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uploaded resume is parsed using advanced NLP techniques, extracting key information such as skills, education, and experience, and stored in the user profile.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 are displayed to the user based on semantic matching with their skills, experience, and preferences, providing personalized recommendations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can apply manually or use the auto-apply feature, which fills applications automatically and tracks their status.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Chrome extension further enhances automation by directly filling out application forms on job portals for faster submissions.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086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A4BE2-DB8A-D6F8-0FE9-FB6230F98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44040B-8D1D-6FD4-D59D-94652769FA70}"/>
              </a:ext>
            </a:extLst>
          </p:cNvPr>
          <p:cNvCxnSpPr/>
          <p:nvPr/>
        </p:nvCxnSpPr>
        <p:spPr>
          <a:xfrm>
            <a:off x="777766" y="446690"/>
            <a:ext cx="111619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5FF7178-D83E-2166-5370-E2E79F70E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8" y="0"/>
            <a:ext cx="692368" cy="6923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93C31F4-B1FE-A0FF-5132-1BFAFCB9BC62}"/>
              </a:ext>
            </a:extLst>
          </p:cNvPr>
          <p:cNvSpPr txBox="1"/>
          <p:nvPr/>
        </p:nvSpPr>
        <p:spPr>
          <a:xfrm>
            <a:off x="2701159" y="83937"/>
            <a:ext cx="6074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Madan Mohan Malaviya University of Technology, Gorakhpur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EBE23D-EA54-73FB-F479-A964D52B04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3243" y="453270"/>
            <a:ext cx="6322541" cy="82767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800" b="1" dirty="0">
                <a:solidFill>
                  <a:srgbClr val="C00000"/>
                </a:solidFill>
                <a:latin typeface="Times New Roman"/>
                <a:ea typeface="+mj-lt"/>
                <a:cs typeface="+mj-lt"/>
              </a:rPr>
              <a:t>Implementation-</a:t>
            </a:r>
            <a:r>
              <a:rPr lang="en-US" sz="3800" b="1" dirty="0" err="1">
                <a:solidFill>
                  <a:srgbClr val="C00000"/>
                </a:solidFill>
                <a:latin typeface="Times New Roman"/>
                <a:ea typeface="+mj-lt"/>
                <a:cs typeface="+mj-lt"/>
              </a:rPr>
              <a:t>FlowChart</a:t>
            </a:r>
            <a:endParaRPr lang="en-US" sz="3800" b="1" dirty="0">
              <a:solidFill>
                <a:srgbClr val="C00000"/>
              </a:solidFill>
              <a:latin typeface="Times New Roman"/>
              <a:ea typeface="Calibri Light"/>
              <a:cs typeface="Calibri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CB2328-A95E-87C6-0E24-81E147F618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365" y="1438168"/>
            <a:ext cx="9616965" cy="518159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95398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CDBE8-3472-ADF3-5B68-EAAF2E9DA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C08F4B-676E-D5A3-EC19-2EDCB275C431}"/>
              </a:ext>
            </a:extLst>
          </p:cNvPr>
          <p:cNvCxnSpPr/>
          <p:nvPr/>
        </p:nvCxnSpPr>
        <p:spPr>
          <a:xfrm>
            <a:off x="777766" y="446690"/>
            <a:ext cx="111619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4A633D0-3CC1-D705-C286-3D977BDA3B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8" y="100506"/>
            <a:ext cx="692368" cy="6923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FFB20D-0E06-2772-FCB4-A0384CA2D288}"/>
              </a:ext>
            </a:extLst>
          </p:cNvPr>
          <p:cNvCxnSpPr>
            <a:cxnSpLocks/>
          </p:cNvCxnSpPr>
          <p:nvPr/>
        </p:nvCxnSpPr>
        <p:spPr>
          <a:xfrm>
            <a:off x="0" y="6442841"/>
            <a:ext cx="12192000" cy="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1E0437-072D-BB5C-F5B5-C2EF8FD3E4BC}"/>
              </a:ext>
            </a:extLst>
          </p:cNvPr>
          <p:cNvSpPr txBox="1"/>
          <p:nvPr/>
        </p:nvSpPr>
        <p:spPr>
          <a:xfrm>
            <a:off x="2701159" y="83937"/>
            <a:ext cx="6074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Madan Mohan Malaviya University of Technology, Gorakhpur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2D01267-09DD-2E79-FB50-4A69DB7B6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1051" y="652245"/>
            <a:ext cx="9549897" cy="566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b="1" dirty="0">
                <a:ea typeface="+mj-lt"/>
                <a:cs typeface="+mj-lt"/>
              </a:rPr>
              <a:t> </a:t>
            </a:r>
            <a:r>
              <a:rPr lang="en-US" sz="3800" b="1" dirty="0">
                <a:solidFill>
                  <a:srgbClr val="C00000"/>
                </a:solidFill>
                <a:latin typeface="Times New Roman"/>
                <a:ea typeface="+mj-lt"/>
                <a:cs typeface="+mj-lt"/>
              </a:rPr>
              <a:t>Implementation – Technical Architecture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7D53E37-7240-5797-C236-C0BCCD09CCEE}"/>
              </a:ext>
            </a:extLst>
          </p:cNvPr>
          <p:cNvSpPr txBox="1">
            <a:spLocks noChangeArrowheads="1"/>
          </p:cNvSpPr>
          <p:nvPr/>
        </p:nvSpPr>
        <p:spPr bwMode="auto">
          <a:xfrm flipV="1">
            <a:off x="821440" y="6117999"/>
            <a:ext cx="7998710" cy="119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IN" altLang="en-US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7110FC-713D-F9CD-4341-8EBF00F44FFA}"/>
              </a:ext>
            </a:extLst>
          </p:cNvPr>
          <p:cNvSpPr txBox="1"/>
          <p:nvPr/>
        </p:nvSpPr>
        <p:spPr>
          <a:xfrm>
            <a:off x="1130061" y="1807578"/>
            <a:ext cx="5433249" cy="10464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endParaRPr lang="en-IN" sz="2200">
              <a:ea typeface="+mn-lt"/>
              <a:cs typeface="+mn-lt"/>
            </a:endParaRPr>
          </a:p>
          <a:p>
            <a:endParaRPr lang="en-IN" sz="2200">
              <a:ea typeface="+mn-lt"/>
              <a:cs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4B34B6-F318-654A-6D89-C40ED0687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674" y="3935866"/>
            <a:ext cx="4378325" cy="22053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EB42A4A-7EF1-C806-96D5-5A316CC0A7CD}"/>
              </a:ext>
            </a:extLst>
          </p:cNvPr>
          <p:cNvSpPr txBox="1"/>
          <p:nvPr/>
        </p:nvSpPr>
        <p:spPr>
          <a:xfrm>
            <a:off x="821440" y="1830548"/>
            <a:ext cx="10956339" cy="18036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Wingdings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sz="2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, Tailwind CSS , Framer Motion 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ShadCN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 </a:t>
            </a:r>
            <a:r>
              <a:rPr lang="en-US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Backend: </a:t>
            </a:r>
            <a:r>
              <a:rPr lang="en-US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MongoDB/Firebase/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SQL alchemy </a:t>
            </a:r>
            <a:r>
              <a:rPr lang="en-US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AI/ML:</a:t>
            </a:r>
            <a:r>
              <a:rPr lang="en-US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 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Scikit-learn, Sentence Transformers,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pdfplumber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NLTK/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US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Selenium,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Requests, Playwright 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B67C93-5779-D487-C834-B33941979A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7324" y="1719263"/>
            <a:ext cx="1046440" cy="10464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0E609E-BEF7-A8EE-2B4C-69870BF57D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5499" y="1992145"/>
            <a:ext cx="1046440" cy="9324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B0EE0E6-9489-13C7-F664-B38AEB2BF0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420" y="2997273"/>
            <a:ext cx="1117528" cy="11175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4D71B0E-FAC4-1168-B1FA-2DAAB2EB46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6841" y="2971257"/>
            <a:ext cx="1026923" cy="102692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35BBEF3-0F2F-7640-E5EA-2B11F1C256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719" y="3906439"/>
            <a:ext cx="1273560" cy="127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013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A0397-A9D9-7B43-732F-0E192E00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2CEBBF-BAD8-53DB-1F94-94F6D1D027F4}"/>
              </a:ext>
            </a:extLst>
          </p:cNvPr>
          <p:cNvCxnSpPr/>
          <p:nvPr/>
        </p:nvCxnSpPr>
        <p:spPr>
          <a:xfrm>
            <a:off x="777766" y="446690"/>
            <a:ext cx="111619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290B733-84DE-371C-10C4-5827BBD4F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8" y="100506"/>
            <a:ext cx="692368" cy="6923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8405EE-B355-4BD2-D400-2EB32A90F3C8}"/>
              </a:ext>
            </a:extLst>
          </p:cNvPr>
          <p:cNvCxnSpPr>
            <a:cxnSpLocks/>
          </p:cNvCxnSpPr>
          <p:nvPr/>
        </p:nvCxnSpPr>
        <p:spPr>
          <a:xfrm>
            <a:off x="8467" y="6442841"/>
            <a:ext cx="12192000" cy="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C4E02AA-0E32-D097-FB95-2EA5ADA95BC8}"/>
              </a:ext>
            </a:extLst>
          </p:cNvPr>
          <p:cNvSpPr txBox="1"/>
          <p:nvPr/>
        </p:nvSpPr>
        <p:spPr>
          <a:xfrm>
            <a:off x="2701159" y="83937"/>
            <a:ext cx="6074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Madan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mohan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Malaviya University of Technology, Gorakhpur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1A9932-E2EA-1E4A-2825-D99EE0A04AC3}"/>
              </a:ext>
            </a:extLst>
          </p:cNvPr>
          <p:cNvSpPr txBox="1"/>
          <p:nvPr/>
        </p:nvSpPr>
        <p:spPr>
          <a:xfrm>
            <a:off x="8966199" y="491209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400" i="1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A995C0C-B23E-F49B-BF22-1716746F0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7788" y="674010"/>
            <a:ext cx="8875011" cy="654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800" b="1" dirty="0">
                <a:solidFill>
                  <a:srgbClr val="C00000"/>
                </a:solidFill>
                <a:latin typeface="Times New Roman"/>
                <a:ea typeface="+mj-lt"/>
                <a:cs typeface="+mj-lt"/>
              </a:rPr>
              <a:t>Implementation – Key Modules </a:t>
            </a:r>
            <a:endParaRPr lang="en-US" b="1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C3D7E9A-2A1B-835F-BC8D-A67BCF9AB12C}"/>
              </a:ext>
            </a:extLst>
          </p:cNvPr>
          <p:cNvSpPr txBox="1">
            <a:spLocks noChangeArrowheads="1"/>
          </p:cNvSpPr>
          <p:nvPr/>
        </p:nvSpPr>
        <p:spPr bwMode="auto">
          <a:xfrm flipV="1">
            <a:off x="755650" y="6092825"/>
            <a:ext cx="8064500" cy="14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IN" altLang="en-US"/>
              <a:t> 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993B5503-F636-64A7-478F-A5B889FBF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582" y="3617526"/>
            <a:ext cx="548538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lang="da-DK" sz="2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A07B98-197B-11F7-ED6A-4115A55C13C3}"/>
              </a:ext>
            </a:extLst>
          </p:cNvPr>
          <p:cNvSpPr txBox="1"/>
          <p:nvPr/>
        </p:nvSpPr>
        <p:spPr>
          <a:xfrm>
            <a:off x="340116" y="1468017"/>
            <a:ext cx="5845569" cy="4510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0000"/>
              </a:lnSpc>
            </a:pPr>
            <a:r>
              <a:rPr lang="en-IN" sz="2000" b="1" dirty="0"/>
              <a:t>1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Centralized Job Platform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 from multiple portals in one place.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2.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Recommendations</a:t>
            </a:r>
            <a:endParaRPr lang="en-US" sz="2000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job recommendations using resume data and user preferences.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3.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Tracking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and manage job application status efficiently.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4.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Application Process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 are auto apply instantly with user consent.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5.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Extension Support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autofill where job applications are filled on company sites.</a:t>
            </a:r>
          </a:p>
          <a:p>
            <a:pPr>
              <a:lnSpc>
                <a:spcPct val="110000"/>
              </a:lnSpc>
            </a:pPr>
            <a:r>
              <a:rPr lang="en-US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6.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Parsing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details from resume and stores them for autofill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7CF67C-7E0D-657E-62C8-2B59DD327C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780" y="1297098"/>
            <a:ext cx="5539754" cy="2194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653045-4C5A-3EF4-B6D4-BFE384F130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780" y="3841001"/>
            <a:ext cx="5087006" cy="219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167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48491-BC17-75AE-93EA-BF9CBBBF3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A3A6EC-FAEA-52CA-79DE-DCD1EFF3F1A1}"/>
              </a:ext>
            </a:extLst>
          </p:cNvPr>
          <p:cNvCxnSpPr/>
          <p:nvPr/>
        </p:nvCxnSpPr>
        <p:spPr>
          <a:xfrm>
            <a:off x="777766" y="446690"/>
            <a:ext cx="111619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1621F25-23E3-DD8F-440A-1C97940F7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8" y="100506"/>
            <a:ext cx="692368" cy="6923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1F9EC4-155D-7D03-F6BA-08C899CACA4E}"/>
              </a:ext>
            </a:extLst>
          </p:cNvPr>
          <p:cNvCxnSpPr>
            <a:cxnSpLocks/>
          </p:cNvCxnSpPr>
          <p:nvPr/>
        </p:nvCxnSpPr>
        <p:spPr>
          <a:xfrm>
            <a:off x="0" y="6580681"/>
            <a:ext cx="12192000" cy="1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E59E673-363A-73DE-323D-4ECB7042BCB5}"/>
              </a:ext>
            </a:extLst>
          </p:cNvPr>
          <p:cNvSpPr txBox="1"/>
          <p:nvPr/>
        </p:nvSpPr>
        <p:spPr>
          <a:xfrm>
            <a:off x="2701159" y="83937"/>
            <a:ext cx="6074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Madan Mohan Malaviya University of Technology, Gorakhpur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F02B06-A4E8-0F7D-5ABC-52F6E3954FCE}"/>
              </a:ext>
            </a:extLst>
          </p:cNvPr>
          <p:cNvSpPr txBox="1"/>
          <p:nvPr/>
        </p:nvSpPr>
        <p:spPr>
          <a:xfrm>
            <a:off x="8966199" y="491209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400" i="1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3C13582-5DC0-A2CF-A3FF-66EA20997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348" y="772573"/>
            <a:ext cx="78486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800" b="1" dirty="0">
                <a:solidFill>
                  <a:srgbClr val="C00000"/>
                </a:solidFill>
                <a:latin typeface="Times New Roman"/>
                <a:ea typeface="+mj-lt"/>
                <a:cs typeface="+mj-lt"/>
              </a:rPr>
              <a:t>Results  </a:t>
            </a:r>
            <a:endParaRPr lang="en-US" b="1" dirty="0">
              <a:solidFill>
                <a:srgbClr val="C00000"/>
              </a:solidFill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A39C852-C072-A15D-6354-4BFCA6B91B04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V="1">
            <a:off x="-794104" y="5920813"/>
            <a:ext cx="8064500" cy="344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IN" altLang="en-US" dirty="0"/>
              <a:t> </a:t>
            </a:r>
            <a:r>
              <a:rPr lang="en-I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Landing Page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1FF076-94FC-594E-0A7E-7EA689ACC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2630522"/>
            <a:ext cx="460876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da-DK" altLang="en-US" sz="2200" b="0" i="0" u="none" strike="noStrike" cap="none" normalizeH="0" baseline="0">
              <a:ln>
                <a:noFill/>
              </a:ln>
              <a:effectLst/>
              <a:ea typeface="MS PGothic" panose="020B0600070205080204" pitchFamily="34" charset="-128"/>
              <a:cs typeface="Calibri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80A6C345-ADB8-6D21-CC81-CEBAEC888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582" y="4872828"/>
            <a:ext cx="453650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da-DK" altLang="en-US" sz="2200" b="0" i="0" u="none" strike="noStrike" cap="none" normalizeH="0" baseline="0">
              <a:ln>
                <a:noFill/>
              </a:ln>
              <a:effectLst/>
              <a:ea typeface="MS PGothic" panose="020B0600070205080204" pitchFamily="34" charset="-128"/>
              <a:cs typeface="Calibri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19102BE-A9E1-ECD9-4FA9-6E7E3EC57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594638"/>
              </p:ext>
            </p:extLst>
          </p:nvPr>
        </p:nvGraphicFramePr>
        <p:xfrm>
          <a:off x="2416230" y="3484685"/>
          <a:ext cx="624840" cy="1914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99221557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4078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86681212"/>
                    </a:ext>
                  </a:extLst>
                </a:gridCol>
              </a:tblGrid>
              <a:tr h="478735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77472"/>
                  </a:ext>
                </a:extLst>
              </a:tr>
              <a:tr h="4787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6751083"/>
                  </a:ext>
                </a:extLst>
              </a:tr>
              <a:tr h="4787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403496"/>
                  </a:ext>
                </a:extLst>
              </a:tr>
              <a:tr h="4787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80599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92230480-8978-4658-AC3C-2CFA8B890B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08" y="1532368"/>
            <a:ext cx="5707117" cy="436089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FE58F49-484F-09AB-C25C-3D015B4648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141" y="1657938"/>
            <a:ext cx="5455527" cy="409149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3C72FC-460D-E0C2-2FE1-27FFECE9D853}"/>
              </a:ext>
            </a:extLst>
          </p:cNvPr>
          <p:cNvSpPr txBox="1"/>
          <p:nvPr/>
        </p:nvSpPr>
        <p:spPr>
          <a:xfrm>
            <a:off x="7702772" y="5744300"/>
            <a:ext cx="646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rofile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Resume Parsing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3330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6DC8F-0FE5-B105-7FBB-4A710EE8C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35215C-5AC7-9875-4BBC-4EBD2ECB5749}"/>
              </a:ext>
            </a:extLst>
          </p:cNvPr>
          <p:cNvCxnSpPr/>
          <p:nvPr/>
        </p:nvCxnSpPr>
        <p:spPr>
          <a:xfrm>
            <a:off x="777766" y="446690"/>
            <a:ext cx="111619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B25D8B4-F59B-52A4-583E-6E452A9B9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8" y="100506"/>
            <a:ext cx="692368" cy="6923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795D20-ABA9-4907-2F48-A82DE900B43F}"/>
              </a:ext>
            </a:extLst>
          </p:cNvPr>
          <p:cNvCxnSpPr>
            <a:cxnSpLocks/>
          </p:cNvCxnSpPr>
          <p:nvPr/>
        </p:nvCxnSpPr>
        <p:spPr>
          <a:xfrm>
            <a:off x="0" y="6580681"/>
            <a:ext cx="12192000" cy="1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3F09282-B34D-7772-DB9C-0C9AAB7F4556}"/>
              </a:ext>
            </a:extLst>
          </p:cNvPr>
          <p:cNvSpPr txBox="1"/>
          <p:nvPr/>
        </p:nvSpPr>
        <p:spPr>
          <a:xfrm>
            <a:off x="2701159" y="83937"/>
            <a:ext cx="6074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Madan Mohan Malaviya University of Technology, Gorakhpur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6B0507-B1FB-179E-AAF5-CF9EC10A6AA0}"/>
              </a:ext>
            </a:extLst>
          </p:cNvPr>
          <p:cNvSpPr txBox="1"/>
          <p:nvPr/>
        </p:nvSpPr>
        <p:spPr>
          <a:xfrm>
            <a:off x="8966199" y="491209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400" i="1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D174409-30BB-BC25-2000-A69A2B54E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348" y="772573"/>
            <a:ext cx="78486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800" b="1" dirty="0">
                <a:solidFill>
                  <a:srgbClr val="C00000"/>
                </a:solidFill>
                <a:latin typeface="Times New Roman"/>
                <a:ea typeface="+mj-lt"/>
                <a:cs typeface="+mj-lt"/>
              </a:rPr>
              <a:t>Results </a:t>
            </a:r>
            <a:endParaRPr lang="en-US" b="1" dirty="0">
              <a:solidFill>
                <a:srgbClr val="C00000"/>
              </a:solidFill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B6CE4C-6DFD-6F51-C3F1-42D8176AE26C}"/>
              </a:ext>
            </a:extLst>
          </p:cNvPr>
          <p:cNvSpPr txBox="1">
            <a:spLocks noChangeArrowheads="1"/>
          </p:cNvSpPr>
          <p:nvPr/>
        </p:nvSpPr>
        <p:spPr bwMode="auto">
          <a:xfrm flipV="1">
            <a:off x="755650" y="6092825"/>
            <a:ext cx="8064500" cy="14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IN" altLang="en-US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BCB170-EDD4-68D0-E3E6-04297DA9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2630522"/>
            <a:ext cx="460876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da-DK" altLang="en-US" sz="2200" b="0" i="0" u="none" strike="noStrike" cap="none" normalizeH="0" baseline="0">
              <a:ln>
                <a:noFill/>
              </a:ln>
              <a:effectLst/>
              <a:ea typeface="MS PGothic" panose="020B0600070205080204" pitchFamily="34" charset="-128"/>
              <a:cs typeface="Calibri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DCDFCA9-CDA9-B8A4-8F3C-DE69ECCA1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582" y="4872828"/>
            <a:ext cx="453650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da-DK" altLang="en-US" sz="2200" b="0" i="0" u="none" strike="noStrike" cap="none" normalizeH="0" baseline="0">
              <a:ln>
                <a:noFill/>
              </a:ln>
              <a:effectLst/>
              <a:ea typeface="MS PGothic" panose="020B0600070205080204" pitchFamily="34" charset="-128"/>
              <a:cs typeface="Calibri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48F282F-6841-9D87-51F7-169E64834C8B}"/>
              </a:ext>
            </a:extLst>
          </p:cNvPr>
          <p:cNvGraphicFramePr>
            <a:graphicFrameLocks noGrp="1"/>
          </p:cNvGraphicFramePr>
          <p:nvPr/>
        </p:nvGraphicFramePr>
        <p:xfrm>
          <a:off x="2416230" y="3484685"/>
          <a:ext cx="624840" cy="1914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99221557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4078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86681212"/>
                    </a:ext>
                  </a:extLst>
                </a:gridCol>
              </a:tblGrid>
              <a:tr h="478735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77472"/>
                  </a:ext>
                </a:extLst>
              </a:tr>
              <a:tr h="4787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6751083"/>
                  </a:ext>
                </a:extLst>
              </a:tr>
              <a:tr h="4787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403496"/>
                  </a:ext>
                </a:extLst>
              </a:tr>
              <a:tr h="4787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805991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D00CE63E-EA46-6829-3655-079618C7ED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6" y="1554286"/>
            <a:ext cx="10658584" cy="4712552"/>
          </a:xfrm>
          <a:prstGeom prst="rect">
            <a:avLst/>
          </a:prstGeom>
          <a:solidFill>
            <a:srgbClr val="FFFFFF">
              <a:shade val="85000"/>
            </a:srgbClr>
          </a:solidFill>
          <a:ln w="9525" cap="sq">
            <a:solidFill>
              <a:schemeClr val="tx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07D29A-8944-A038-2500-FC2C26DF7C80}"/>
              </a:ext>
            </a:extLst>
          </p:cNvPr>
          <p:cNvSpPr txBox="1"/>
          <p:nvPr/>
        </p:nvSpPr>
        <p:spPr>
          <a:xfrm>
            <a:off x="4968085" y="6266838"/>
            <a:ext cx="610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9938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A0397-A9D9-7B43-732F-0E192E00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2CEBBF-BAD8-53DB-1F94-94F6D1D027F4}"/>
              </a:ext>
            </a:extLst>
          </p:cNvPr>
          <p:cNvCxnSpPr/>
          <p:nvPr/>
        </p:nvCxnSpPr>
        <p:spPr>
          <a:xfrm>
            <a:off x="777766" y="446690"/>
            <a:ext cx="111619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290B733-84DE-371C-10C4-5827BBD4F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8" y="100506"/>
            <a:ext cx="692368" cy="6923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8405EE-B355-4BD2-D400-2EB32A90F3C8}"/>
              </a:ext>
            </a:extLst>
          </p:cNvPr>
          <p:cNvCxnSpPr>
            <a:cxnSpLocks/>
          </p:cNvCxnSpPr>
          <p:nvPr/>
        </p:nvCxnSpPr>
        <p:spPr>
          <a:xfrm>
            <a:off x="0" y="6442841"/>
            <a:ext cx="12192000" cy="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C08C0CE-FC77-0FAF-BB30-826D8F8D45B0}"/>
              </a:ext>
            </a:extLst>
          </p:cNvPr>
          <p:cNvSpPr txBox="1"/>
          <p:nvPr/>
        </p:nvSpPr>
        <p:spPr>
          <a:xfrm>
            <a:off x="2701159" y="83937"/>
            <a:ext cx="6074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Madan Mohan Malaviya University of Technology, Gorakhpur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37E5241-1E65-5898-5B88-B8FF9B4D6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6606" y="630640"/>
            <a:ext cx="78486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800" b="1" dirty="0">
                <a:solidFill>
                  <a:srgbClr val="C00000"/>
                </a:solidFill>
                <a:latin typeface="Times New Roman"/>
                <a:ea typeface="+mj-lt"/>
                <a:cs typeface="+mj-lt"/>
              </a:rPr>
              <a:t>Challenges</a:t>
            </a:r>
            <a:r>
              <a:rPr lang="en-IN" sz="4000" b="1" dirty="0">
                <a:solidFill>
                  <a:srgbClr val="C00000"/>
                </a:solidFill>
                <a:latin typeface="Times New Roman"/>
                <a:ea typeface="+mj-lt"/>
                <a:cs typeface="+mj-lt"/>
              </a:rPr>
              <a:t> </a:t>
            </a:r>
            <a:endParaRPr lang="en-US" b="1" dirty="0">
              <a:solidFill>
                <a:srgbClr val="C00000"/>
              </a:solidFill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76A7FC-63E4-1E02-9793-BE1EE71E08E6}"/>
              </a:ext>
            </a:extLst>
          </p:cNvPr>
          <p:cNvSpPr txBox="1">
            <a:spLocks noChangeArrowheads="1"/>
          </p:cNvSpPr>
          <p:nvPr/>
        </p:nvSpPr>
        <p:spPr bwMode="auto">
          <a:xfrm flipV="1">
            <a:off x="2063750" y="6250657"/>
            <a:ext cx="8064500" cy="14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IN" altLang="en-US"/>
              <a:t> </a:t>
            </a:r>
          </a:p>
        </p:txBody>
      </p:sp>
      <p:pic>
        <p:nvPicPr>
          <p:cNvPr id="10" name="Picture 9" descr="A person jumping over a block&#10;&#10;AI-generated content may be incorrect.">
            <a:extLst>
              <a:ext uri="{FF2B5EF4-FFF2-40B4-BE49-F238E27FC236}">
                <a16:creationId xmlns:a16="http://schemas.microsoft.com/office/drawing/2014/main" id="{14701EFF-9234-23C9-7521-7EBE12EA9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455" y="1797272"/>
            <a:ext cx="4008692" cy="376084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F509ABB-865D-1911-47F9-6DB5DCD87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61666"/>
            <a:ext cx="18473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EA116E-2321-A32B-3904-B4C585DBA03B}"/>
              </a:ext>
            </a:extLst>
          </p:cNvPr>
          <p:cNvSpPr txBox="1"/>
          <p:nvPr/>
        </p:nvSpPr>
        <p:spPr>
          <a:xfrm>
            <a:off x="620111" y="1515363"/>
            <a:ext cx="6127530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Resume Parsing Accuracy</a:t>
            </a:r>
          </a:p>
          <a:p>
            <a:r>
              <a:rPr lang="en-US" sz="1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Mitigation: Use advanced NLP models, continuous training,    and validation checks.</a:t>
            </a:r>
          </a:p>
          <a:p>
            <a:endParaRPr lang="en-US" sz="18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Job Data Inconsistency (Multiple Platforms)</a:t>
            </a:r>
            <a:br>
              <a:rPr lang="en-US" sz="18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Mitigation: Data normalization, filtering, and multi-source validation.</a:t>
            </a:r>
          </a:p>
          <a:p>
            <a:endParaRPr lang="en-US" sz="18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Auto-Apply Compatibility Issues</a:t>
            </a:r>
            <a:br>
              <a:rPr lang="en-US" sz="18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Mitigation: Platform-specific logic, fallback to manual apply.</a:t>
            </a:r>
          </a:p>
          <a:p>
            <a:endParaRPr lang="en-US" sz="18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User Data Privacy &amp; Security</a:t>
            </a:r>
            <a:br>
              <a:rPr lang="en-US" sz="18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Mitigation: Secure storage, encryption, and authentication mechanisms.</a:t>
            </a:r>
            <a:endParaRPr lang="en-IN" sz="18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420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A0397-A9D9-7B43-732F-0E192E00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2CEBBF-BAD8-53DB-1F94-94F6D1D027F4}"/>
              </a:ext>
            </a:extLst>
          </p:cNvPr>
          <p:cNvCxnSpPr/>
          <p:nvPr/>
        </p:nvCxnSpPr>
        <p:spPr>
          <a:xfrm>
            <a:off x="777766" y="446690"/>
            <a:ext cx="111619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290B733-84DE-371C-10C4-5827BBD4F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8" y="100506"/>
            <a:ext cx="692368" cy="6923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8405EE-B355-4BD2-D400-2EB32A90F3C8}"/>
              </a:ext>
            </a:extLst>
          </p:cNvPr>
          <p:cNvCxnSpPr>
            <a:cxnSpLocks/>
          </p:cNvCxnSpPr>
          <p:nvPr/>
        </p:nvCxnSpPr>
        <p:spPr>
          <a:xfrm>
            <a:off x="0" y="6442841"/>
            <a:ext cx="12192000" cy="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C44FB6-B275-E52B-C7C9-BE61C976282E}"/>
              </a:ext>
            </a:extLst>
          </p:cNvPr>
          <p:cNvSpPr txBox="1"/>
          <p:nvPr/>
        </p:nvSpPr>
        <p:spPr>
          <a:xfrm>
            <a:off x="2701159" y="83937"/>
            <a:ext cx="6074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Madan Mohan Malaviya University of Technology, Gorakhpur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7D401C3-9975-5B4B-C44A-958C2B96D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704" y="624373"/>
            <a:ext cx="78486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>
                <a:solidFill>
                  <a:srgbClr val="C00000"/>
                </a:solidFill>
                <a:latin typeface="Times New Roman"/>
                <a:ea typeface="+mj-lt"/>
                <a:cs typeface="+mj-lt"/>
              </a:rPr>
              <a:t>Future Directions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8FFD797-2AA3-88A5-1202-5F7839A892A1}"/>
              </a:ext>
            </a:extLst>
          </p:cNvPr>
          <p:cNvSpPr txBox="1">
            <a:spLocks noChangeArrowheads="1"/>
          </p:cNvSpPr>
          <p:nvPr/>
        </p:nvSpPr>
        <p:spPr bwMode="auto">
          <a:xfrm flipV="1">
            <a:off x="755650" y="6092825"/>
            <a:ext cx="8064500" cy="14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IN" altLang="en-US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86594C-E2C3-2281-0046-BE09CE03F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2849" y="2694455"/>
            <a:ext cx="267600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da-DK" altLang="en-US" sz="2400" b="0" i="0" u="none" strike="noStrike" cap="none" normalizeH="0" baseline="0">
              <a:ln>
                <a:noFill/>
              </a:ln>
              <a:effectLst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2E4CC9-0B63-3B39-B26D-E06B824684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618" y="1863095"/>
            <a:ext cx="3997430" cy="29460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935ECA-324C-5DA2-742E-82CEB35DCAEC}"/>
              </a:ext>
            </a:extLst>
          </p:cNvPr>
          <p:cNvSpPr txBox="1"/>
          <p:nvPr/>
        </p:nvSpPr>
        <p:spPr>
          <a:xfrm>
            <a:off x="1537281" y="2079231"/>
            <a:ext cx="8402733" cy="257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 Letter Generation.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 Analysis &amp; Course Recommendation.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 Job Matching.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Multi-Platform Job Support.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Multi-Resume Management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192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1F65F-263F-1B62-EDB6-12D74A0DD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6AEE26-6BCA-C9E4-EEB5-C77F2EF411A9}"/>
              </a:ext>
            </a:extLst>
          </p:cNvPr>
          <p:cNvCxnSpPr/>
          <p:nvPr/>
        </p:nvCxnSpPr>
        <p:spPr>
          <a:xfrm>
            <a:off x="777766" y="446690"/>
            <a:ext cx="111619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D749830-8F97-9D07-C0A9-C9DB50CC5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8" y="100506"/>
            <a:ext cx="692368" cy="6923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C32C17-2660-4913-B444-9C7C3272B23F}"/>
              </a:ext>
            </a:extLst>
          </p:cNvPr>
          <p:cNvCxnSpPr>
            <a:cxnSpLocks/>
          </p:cNvCxnSpPr>
          <p:nvPr/>
        </p:nvCxnSpPr>
        <p:spPr>
          <a:xfrm>
            <a:off x="0" y="6442841"/>
            <a:ext cx="12192000" cy="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FE8E17C-ABAB-BC0A-60BD-3E19F357DE0A}"/>
              </a:ext>
            </a:extLst>
          </p:cNvPr>
          <p:cNvSpPr txBox="1"/>
          <p:nvPr/>
        </p:nvSpPr>
        <p:spPr>
          <a:xfrm>
            <a:off x="2701159" y="83937"/>
            <a:ext cx="6074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Madan Mohan Malaviya University of Technology, Gorakhpur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B9CA183-0CC7-6780-31B7-8914C9E55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704" y="624373"/>
            <a:ext cx="78486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>
                <a:solidFill>
                  <a:srgbClr val="C00000"/>
                </a:solidFill>
                <a:latin typeface="Times New Roman"/>
                <a:ea typeface="+mj-lt"/>
                <a:cs typeface="+mj-lt"/>
              </a:rPr>
              <a:t>References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A681F82-AC5F-A8DB-62E1-2CA89B7B8C91}"/>
              </a:ext>
            </a:extLst>
          </p:cNvPr>
          <p:cNvSpPr txBox="1">
            <a:spLocks noChangeArrowheads="1"/>
          </p:cNvSpPr>
          <p:nvPr/>
        </p:nvSpPr>
        <p:spPr bwMode="auto">
          <a:xfrm flipV="1">
            <a:off x="755650" y="6092825"/>
            <a:ext cx="8064500" cy="14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IN" altLang="en-US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EE303B-0706-612C-9781-F36DB64D7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2849" y="2694455"/>
            <a:ext cx="267600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da-DK" altLang="en-US" sz="2400" b="0" i="0" u="none" strike="noStrike" cap="none" normalizeH="0" baseline="0">
              <a:ln>
                <a:noFill/>
              </a:ln>
              <a:effectLst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80A500-6EF4-FA32-6F5B-7E4FA8CB1C8D}"/>
              </a:ext>
            </a:extLst>
          </p:cNvPr>
          <p:cNvSpPr txBox="1"/>
          <p:nvPr/>
        </p:nvSpPr>
        <p:spPr>
          <a:xfrm>
            <a:off x="966952" y="1166842"/>
            <a:ext cx="99821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Chaimaa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Lotfi, Swetha Srinivasan, Myriam Ertz, Imen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Latrous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“Web Scraping Techniques and Applications” SCRS Conference Proceedings on Intelligent Systems (2021).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[2] S. B. Gulik, J. L. Choudhary, A. R. Gharat, and S. Kolhe, "Scraping of Job Portal," International Journal of Advance Research, Ideas and Innovations in Technology, vol. 7, no. 3, 2021.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A. M. Kuthe, H.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Donarkar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Patel, M. Qureshi, A.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Bawankar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Chaurey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R. Mahajan, "Optimising Job Search using Web Scraping," International Research Journal of Engineering and Technology (IRJET), vol. 11, no. 4, Apr. 2024.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[4] Rojan. Upreti, “Job Application Assistant Tool: An Integrated Chrome Extension and AI Powered Web Platform,” William Paterson University, USA, 2024.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[5] R. Muthu Kumar, “in Technology (IJIRT), vol. 12, no. 1, pp. 1215–1219, June 2025. AI-Based Resume Analyzer Using NLP and Machine Learning,” International Journal of Innovative Research. </a:t>
            </a:r>
          </a:p>
        </p:txBody>
      </p:sp>
    </p:spTree>
    <p:extLst>
      <p:ext uri="{BB962C8B-B14F-4D97-AF65-F5344CB8AC3E}">
        <p14:creationId xmlns:p14="http://schemas.microsoft.com/office/powerpoint/2010/main" val="859997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BF73B-C99E-2D6D-3A76-8D0E98DCF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52FF12-4FC2-8EA8-DCAE-A7757719BF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02372"/>
            <a:ext cx="7252137" cy="346306"/>
          </a:xfrm>
        </p:spPr>
        <p:txBody>
          <a:bodyPr>
            <a:normAutofit fontScale="92500" lnSpcReduction="20000"/>
          </a:bodyPr>
          <a:lstStyle/>
          <a:p>
            <a:pPr algn="l" eaLnBrk="1" hangingPunct="1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F0F6B1-5286-EAE6-FAEA-02F3E3B79524}"/>
              </a:ext>
            </a:extLst>
          </p:cNvPr>
          <p:cNvCxnSpPr/>
          <p:nvPr/>
        </p:nvCxnSpPr>
        <p:spPr>
          <a:xfrm>
            <a:off x="777766" y="446690"/>
            <a:ext cx="111619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8D16282-5E89-B02A-C56B-673E945B37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8" y="100506"/>
            <a:ext cx="692368" cy="6923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039E4C-B99F-6584-0D4A-ADB231E75CA1}"/>
              </a:ext>
            </a:extLst>
          </p:cNvPr>
          <p:cNvCxnSpPr>
            <a:cxnSpLocks/>
          </p:cNvCxnSpPr>
          <p:nvPr/>
        </p:nvCxnSpPr>
        <p:spPr>
          <a:xfrm>
            <a:off x="0" y="6442841"/>
            <a:ext cx="12192000" cy="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486140A-4A3B-F195-F3CE-7DFA226CA2E3}"/>
              </a:ext>
            </a:extLst>
          </p:cNvPr>
          <p:cNvSpPr txBox="1"/>
          <p:nvPr/>
        </p:nvSpPr>
        <p:spPr>
          <a:xfrm>
            <a:off x="2701159" y="83937"/>
            <a:ext cx="6074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Madan Mohan Malaviya University of Technology, Gorakhpur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740CBC-2189-264D-3AB4-07BF021C06A8}"/>
              </a:ext>
            </a:extLst>
          </p:cNvPr>
          <p:cNvSpPr txBox="1"/>
          <p:nvPr/>
        </p:nvSpPr>
        <p:spPr>
          <a:xfrm>
            <a:off x="3657599" y="2400782"/>
            <a:ext cx="93865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11" name="PlaceHolder 1">
            <a:extLst>
              <a:ext uri="{FF2B5EF4-FFF2-40B4-BE49-F238E27FC236}">
                <a16:creationId xmlns:a16="http://schemas.microsoft.com/office/drawing/2014/main" id="{2E7655BA-9422-4478-6F3E-88E790C7E9D4}"/>
              </a:ext>
            </a:extLst>
          </p:cNvPr>
          <p:cNvSpPr>
            <a:spLocks noGrp="1"/>
          </p:cNvSpPr>
          <p:nvPr/>
        </p:nvSpPr>
        <p:spPr>
          <a:xfrm>
            <a:off x="2208509" y="1975283"/>
            <a:ext cx="5095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6818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fr-FR" sz="600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" name="PlaceHolder 2">
            <a:extLst>
              <a:ext uri="{FF2B5EF4-FFF2-40B4-BE49-F238E27FC236}">
                <a16:creationId xmlns:a16="http://schemas.microsoft.com/office/drawing/2014/main" id="{D4AE8452-47B7-A22D-A135-7E349EB78B27}"/>
              </a:ext>
            </a:extLst>
          </p:cNvPr>
          <p:cNvSpPr>
            <a:spLocks noGrp="1"/>
          </p:cNvSpPr>
          <p:nvPr/>
        </p:nvSpPr>
        <p:spPr>
          <a:xfrm>
            <a:off x="2013029" y="2853606"/>
            <a:ext cx="5095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strike="noStrike" spc="-1">
              <a:solidFill>
                <a:srgbClr val="000000"/>
              </a:solidFill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2528057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563</TotalTime>
  <Words>1067</Words>
  <Application>Microsoft Office PowerPoint</Application>
  <PresentationFormat>Widescreen</PresentationFormat>
  <Paragraphs>129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MS PGothic</vt:lpstr>
      <vt:lpstr>Arial</vt:lpstr>
      <vt:lpstr>Calibri</vt:lpstr>
      <vt:lpstr>Calibri Light</vt:lpstr>
      <vt:lpstr>Courier New</vt:lpstr>
      <vt:lpstr>OpenSymbol</vt:lpstr>
      <vt:lpstr>Times New Roman</vt:lpstr>
      <vt:lpstr>Wingdings</vt:lpstr>
      <vt:lpstr>Office Theme</vt:lpstr>
      <vt:lpstr>PowerPoint Presentation</vt:lpstr>
      <vt:lpstr>Table of Content</vt:lpstr>
      <vt:lpstr>Introduction</vt:lpstr>
      <vt:lpstr>Problem Statement</vt:lpstr>
      <vt:lpstr>Objective</vt:lpstr>
      <vt:lpstr>Solution Overview </vt:lpstr>
      <vt:lpstr>Workflow </vt:lpstr>
      <vt:lpstr>Implementation-FlowChart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Battery</dc:title>
  <dc:creator>Manoj Kumar Yaduwansh</dc:creator>
  <cp:keywords>Hare Krishna</cp:keywords>
  <cp:lastModifiedBy>AYUSH GUPTA</cp:lastModifiedBy>
  <cp:revision>510</cp:revision>
  <dcterms:created xsi:type="dcterms:W3CDTF">2024-02-08T13:59:25Z</dcterms:created>
  <dcterms:modified xsi:type="dcterms:W3CDTF">2026-03-29T12:12:16Z</dcterms:modified>
</cp:coreProperties>
</file>