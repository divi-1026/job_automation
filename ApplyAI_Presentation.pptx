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5486400" cy="3657600"/>
          </a:xfrm>
          <a:prstGeom prst="rect">
            <a:avLst/>
          </a:prstGeom>
          <a:solidFill>
            <a:srgbClr val="1C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3657600"/>
            <a:ext cx="5486400" cy="3657600"/>
          </a:xfrm>
          <a:prstGeom prst="rect">
            <a:avLst/>
          </a:prstGeom>
          <a:solidFill>
            <a:srgbClr val="2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⚡ ApplyAI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7A5B5"/>
                </a:solidFill>
              </a:rPr>
              <a:t>AI-Powered Job Application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18304" y="342900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880"/>
                </a:solidFill>
              </a:rPr>
              <a:t>Find  •  Match  • 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880"/>
                </a:solidFill>
              </a:rPr>
              <a:t>Final Year Project  |  2025–26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5669280"/>
            <a:ext cx="1737360" cy="347472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3FF"/>
                </a:solidFill>
              </a:rPr>
              <a:t>React 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669280"/>
            <a:ext cx="1737360" cy="347472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3E0AD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669280"/>
            <a:ext cx="1737360" cy="347472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669280"/>
            <a:ext cx="1737360" cy="347472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584"/>
                </a:solidFill>
              </a:rPr>
              <a:t>BeautifulSoup4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5B5"/>
                </a:solidFill>
              </a:rPr>
              <a:t>Job searching today is broken for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394960" cy="2103120"/>
          </a:xfrm>
          <a:prstGeom prst="rect">
            <a:avLst/>
          </a:prstGeom>
          <a:solidFill>
            <a:srgbClr val="1A1828"/>
          </a:solidFill>
          <a:ln w="9525">
            <a:solidFill>
              <a:srgbClr val="2E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Time Consuming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5B5"/>
                </a:solidFill>
              </a:rPr>
              <a:t>Manually visiting Indeed, Naukri, LinkedIn, Internshala
every day wastes hours of productive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394960" cy="2103120"/>
          </a:xfrm>
          <a:prstGeom prst="rect">
            <a:avLst/>
          </a:prstGeom>
          <a:solidFill>
            <a:srgbClr val="1A1828"/>
          </a:solidFill>
          <a:ln w="9525">
            <a:solidFill>
              <a:srgbClr val="2E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Skill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5740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5B5"/>
                </a:solidFill>
              </a:rPr>
              <a:t>Generic job boards show irrelevant listings.
Candidates miss roles that perfectly match their skills.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94760"/>
            <a:ext cx="5394960" cy="2103120"/>
          </a:xfrm>
          <a:prstGeom prst="rect">
            <a:avLst/>
          </a:prstGeom>
          <a:solidFill>
            <a:srgbClr val="1A1828"/>
          </a:solidFill>
          <a:ln w="9525">
            <a:solidFill>
              <a:srgbClr val="2E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593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Application Fatigue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8912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5B5"/>
                </a:solidFill>
              </a:rPr>
              <a:t>Copying the same profile information across dozens
of portals leads to inconsistent applications.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5394960" cy="2103120"/>
          </a:xfrm>
          <a:prstGeom prst="rect">
            <a:avLst/>
          </a:prstGeom>
          <a:solidFill>
            <a:srgbClr val="1A1828"/>
          </a:solidFill>
          <a:ln w="9525">
            <a:solidFill>
              <a:srgbClr val="2E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593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Missed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8912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5B5"/>
                </a:solidFill>
              </a:rPr>
              <a:t>Fresh job postings get flooded within hours.
Manual checking means candidates always arrive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Solution — ApplyAI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5B5"/>
                </a:solidFill>
              </a:rPr>
              <a:t>One platform. Your skills. Jobs delivered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383280" cy="329184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1645920"/>
            <a:ext cx="59436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042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63FF"/>
                </a:solidFill>
              </a:rPr>
              <a:t>Build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5B5"/>
                </a:solidFill>
              </a:rPr>
              <a:t>Add your skills, experience
and upload your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383280" cy="329184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594360" cy="502920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042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E0AD"/>
                </a:solidFill>
              </a:rPr>
              <a:t>Auto-Scrape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5B5"/>
                </a:solidFill>
              </a:rPr>
              <a:t>Background engine scrapes
Indeed &amp; Naukri every 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1463040"/>
            <a:ext cx="3383280" cy="329184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39" y="1645920"/>
            <a:ext cx="594360" cy="50292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1645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23042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584"/>
                </a:solidFill>
              </a:rPr>
              <a:t>Browse &amp; 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880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5B5"/>
                </a:solidFill>
              </a:rPr>
              <a:t>Filtered job feed matched
to your exact skill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8348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E0AD"/>
                </a:solidFill>
              </a:rPr>
              <a:t>✅  No manual searching   ✅  Skill-matched results   ✅  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57600" cy="498348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Frontend  (React 19 + Vite + Redux)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Vite dev server on 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52927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React Router v7 — protected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02735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Redux Toolkit — auth + jobs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35254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Tailwind CSS v4 — dark theme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417320"/>
            <a:ext cx="3657600" cy="498348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1417320"/>
            <a:ext cx="3657600" cy="457200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43560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Backend  (FastAPI + SQLAlchemy 2.0)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Async FastAPI on 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52927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JWT auth — signup / login / logout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602735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Async SQLAlchemy + asyncpg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435254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Background asyncio tasks per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1417320"/>
            <a:ext cx="3657600" cy="498348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417320"/>
            <a:ext cx="365760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43560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Database &amp; Scraping  (PostgreSQL + httpx + BS4)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PostgreSQL — users, jobs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852927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httpx async HTTP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02735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BeautifulSoup4 — HTML parsing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35254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JSON API fallback for Naukri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6393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6880"/>
                </a:solidFill>
              </a:rPr>
              <a:t>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3" y="36393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6880"/>
                </a:solidFill>
              </a:rPr>
              <a:t>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0AD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Scraping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389888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4996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4996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Vite 6 + React Router v7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85231" y="1389888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14996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14996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Tailwind CSS 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@import 'tailwindcss'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1663" y="1389888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14996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14996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Redux 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createSlice + createAsyncThunk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962656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30723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0723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4930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Python 3.13, async endpoints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85231" y="2962656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30723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0723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34930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asyncpg + SQLAlchemy 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41663" y="2962656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78824" y="30723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3" y="307238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JWT + 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3" y="34930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python-jose + passlib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535424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46451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645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506577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Async HTTP client v0.28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5231" y="4535424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22392" y="46451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1" y="4645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BeautifulSoup4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1031" y="506577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lxml parser, CSS selectors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41663" y="4535424"/>
            <a:ext cx="3200400" cy="128016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8824" y="46451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3" y="46451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Scrapers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3" y="506577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Indeed.co.in + Naukri.com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JWT-based signup / login / logout.
Passwords hashed with bcrypt.
Protected routes on frontend &amp;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4173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E0AD"/>
                </a:solidFill>
              </a:rPr>
              <a:t>Profile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67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Full profile: skills, experience, education,
resume upload (PDF). Skills saved via direct
SQL UPDATE (bypasses ORM ARRAY bug).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3608" y="14173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584"/>
                </a:solidFill>
              </a:rPr>
              <a:t>Auto-Scraper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1671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Background asyncio task per user.
Scrapes every 10 min automatically.
Restarts instantly when skills are updated.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Job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817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Deduplicated jobs from Indeed + Naukri.
Filter by source tab.
Polling after scrape trigger for live updates.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8264" y="39319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56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CFE1"/>
                </a:solidFill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6817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Overview of profile completion, job stats,
quick-access links to profile and jobs page.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8" y="3931920"/>
            <a:ext cx="3657600" cy="2331720"/>
          </a:xfrm>
          <a:prstGeom prst="rect">
            <a:avLst/>
          </a:prstGeom>
          <a:solidFill>
            <a:srgbClr val="1A1828"/>
          </a:solidFill>
          <a:ln w="9525">
            <a:solidFill>
              <a:srgbClr val="F7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84E"/>
                </a:solidFill>
              </a:rPr>
              <a:t>Dual Scrape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681728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Primary: BeautifulSoup HTML parser
(notebook CSS selectors).
Fallback: Naukri internal JSON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Scraping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5B5"/>
                </a:solidFill>
              </a:rPr>
              <a:t>How ApplyAI collects jobs from the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507492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E17"/>
                </a:solidFill>
              </a:rPr>
              <a:t>💼  Naukri.com Scraper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• URL pattern: /python-developer-jobs-{page}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Same URL format as Naukri-Web-Scraping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06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• Primary: httpx + BeautifulSoup4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• CSS selectors (from notebook):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.srp-jobtuple-wrapper  →  job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21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a.title                →  job title &amp;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5993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.comp-name             → 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98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.exp-wrap / .sal-wrap  →  exp / salary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.tags-gt li            →  skills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• Fallback: Naukri internal JSON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endpoint: /jobapi/v3/search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51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used when JS hasn't rendered 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5394960" cy="507492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5394960" cy="457200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4356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E17"/>
                </a:solidFill>
              </a:rPr>
              <a:t>🔍  Indeed.co.in Scraper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029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0AD"/>
                </a:solidFill>
              </a:rPr>
              <a:t>• URL: indeed.co.in/jobs?q={skill}&amp;l=India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368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0AD"/>
                </a:solidFill>
              </a:rPr>
              <a:t>• Strategy: httpx + BeautifulSoup4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06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E0AD"/>
                </a:solidFill>
              </a:rPr>
              <a:t>• CSS selectors: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44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a.tapItem            →  job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.jobTitle span       →  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21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.companyName         → 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5993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.companyLocation     → 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98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.salary-snippet-container → salary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 .job-snippet          →  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User-Agent rotation (5 agents)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13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Deduplication by 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751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max_per_skill = 10 results per skill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Auth &amp;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94960" cy="502920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Authentication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1920240" cy="530352"/>
          </a:xfrm>
          <a:prstGeom prst="rect">
            <a:avLst/>
          </a:prstGeom>
          <a:solidFill>
            <a:srgbClr val="1E1C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1865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POST /auth/signup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57400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Hash password → save user → db.commit()
→ issue JWT → start scraper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98648"/>
            <a:ext cx="1920240" cy="530352"/>
          </a:xfrm>
          <a:prstGeom prst="rect">
            <a:avLst/>
          </a:prstGeom>
          <a:solidFill>
            <a:srgbClr val="1E1C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44368"/>
            <a:ext cx="1865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POST /auth/login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89864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Verify bcrypt hash → issue JWT
→ (re)start scraper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39896"/>
            <a:ext cx="1920240" cy="530352"/>
          </a:xfrm>
          <a:prstGeom prst="rect">
            <a:avLst/>
          </a:prstGeom>
          <a:solidFill>
            <a:srgbClr val="1E1C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1865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Bearer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739896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All protected routes validate JWT
via OAuth2PasswordBearer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81144"/>
            <a:ext cx="1920240" cy="530352"/>
          </a:xfrm>
          <a:prstGeom prst="rect">
            <a:avLst/>
          </a:prstGeom>
          <a:solidFill>
            <a:srgbClr val="1E1C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26864"/>
            <a:ext cx="1865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POST /auth/logout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581144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Cancel asyncio scraper task
→ client clears localStorage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422392"/>
            <a:ext cx="1920240" cy="530352"/>
          </a:xfrm>
          <a:prstGeom prst="rect">
            <a:avLst/>
          </a:prstGeom>
          <a:solidFill>
            <a:srgbClr val="1E1C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468112"/>
            <a:ext cx="1865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ProtectedRoute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42239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React component — redirects to /login
if no token in Redux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394960" cy="502920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417320"/>
            <a:ext cx="5394960" cy="438912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356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0E17"/>
                </a:solidFill>
              </a:rPr>
              <a:t>🗄️  Database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0AD"/>
                </a:solidFill>
              </a:rP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5915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id            UUID 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6090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full_name    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9626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email         TEXT  UNIQUE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6440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hashed_password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5661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skills        ARRAY(String)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6791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location / bio / experience_type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6966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current_role / current_company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7141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resume_url   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731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is_active     BOOLEAN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5193792"/>
            <a:ext cx="5029200" cy="27432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285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jobs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id / user_id (FK)  title  company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943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location  salary  url  source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6217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A5B5"/>
                </a:solidFill>
              </a:rPr>
              <a:t>  skill_query  description  scraped_at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Auto-Scrape Background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5B5"/>
                </a:solidFill>
              </a:rPr>
              <a:t>How jobs keep updating without any user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691640" cy="15087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691640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45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0E17"/>
                </a:solidFill>
              </a:rPr>
              <a:t>Login / 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JWT issued
start_user_scraper(user_id)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075688"/>
            <a:ext cx="429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508760"/>
            <a:ext cx="1691640" cy="15087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508760"/>
            <a:ext cx="1691640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545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0E17"/>
                </a:solidFill>
              </a:rPr>
              <a:t>_scrape_loop()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659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asyncio.Task per user
runs indefinitely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75688"/>
            <a:ext cx="429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508760"/>
            <a:ext cx="1691640" cy="15087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508760"/>
            <a:ext cx="1691640" cy="365760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45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0E17"/>
                </a:solidFill>
              </a:rPr>
              <a:t>_do_scrape_cycle()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9659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Fetch fresh skills from DB
Scrape Indeed + Naukri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075688"/>
            <a:ext cx="429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508760"/>
            <a:ext cx="1691640" cy="15087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1508760"/>
            <a:ext cx="1691640" cy="365760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545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0E17"/>
                </a:solidFill>
              </a:rPr>
              <a:t>persist_jobs()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9659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Insert into jobs table
silently skip duplicates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075688"/>
            <a:ext cx="429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88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508760"/>
            <a:ext cx="1691640" cy="150876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1508760"/>
            <a:ext cx="169164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5453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0E17"/>
                </a:solidFill>
              </a:rPr>
              <a:t>Sleep 10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9659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600 s in 10-s chunks
for prompt cancellation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91840"/>
            <a:ext cx="1065276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01568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880"/>
                </a:solidFill>
              </a:rPr>
              <a:t>↩  Loop repeats from _scrape_loop() after each 10-min sleep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977639"/>
            <a:ext cx="5394960" cy="237744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977639"/>
            <a:ext cx="5394960" cy="402336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995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0E17"/>
                </a:solidFill>
              </a:rPr>
              <a:t>⚡  Instant Skill-Update Restart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480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User saves new skills via PATCH /profile/me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28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profile.py detects 'skills' in update_data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1755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Calls start_user_scraper(user_id)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5229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• Cancels old loop task → creates new 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870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• New cycle starts immediately with fresh skills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77639"/>
            <a:ext cx="5394960" cy="237744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977639"/>
            <a:ext cx="5394960" cy="402336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995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0E17"/>
                </a:solidFill>
              </a:rPr>
              <a:t>🐛  Race Condition Fix (Signup)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480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Before: start_user_scraper before db.commit()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828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→ background task found no user → loop died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755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After: await db.commit() THEN start scraper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5229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  → user exists in DB when loop first queries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70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Result: scraping always starts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Application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623560" cy="242316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623560" cy="42062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53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Auth Pages  —  /login
/signup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JWT token stored in localStorage
• Redux state hydrated on refresh
• Redirect to /dashboard on 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623560" cy="242316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623560" cy="420624"/>
          </a:xfrm>
          <a:prstGeom prst="rect">
            <a:avLst/>
          </a:prstGeom>
          <a:solidFill>
            <a:srgbClr val="43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53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Dashboard  —  /dashboard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8424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Profile completion overview
• Quick links to Profile &amp; Jobs
• Stats: skills count, job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623560" cy="242316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5623560" cy="420624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05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Profile Manager  —  /profile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3600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Edit all personal/professional fields
• Skills array saved via direct SQL UPDATE
• Resume upload/delete (PDF, max 10 MB)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69080"/>
            <a:ext cx="5623560" cy="242316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069080"/>
            <a:ext cx="5623560" cy="42062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05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0E17"/>
                </a:solidFill>
              </a:rPr>
              <a:t>Jobs Feed  —  /jobs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3600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Source tabs: All / Indeed / Naukri
• Live badge counts per source
• Poll every 4 s after scrape trigger
• Apply link opens job directly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54864" cy="2514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16052"/>
            <a:ext cx="54864" cy="25146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2E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AI Cover Letter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GPT-4 generates personalised cover letters
based on job description + user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41732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0AD"/>
                </a:solidFill>
              </a:rPr>
              <a:t>Match Score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6712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ML model scores each job listing against
the candidate's skills and experience range.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3608" y="141732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584"/>
                </a:solidFill>
              </a:rPr>
              <a:t>Email / Push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16712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Alert user via email when high-match jobs
appear in the feed within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507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More Job Portals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3600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Add LinkedIn, Internshala, AngelList,
Glassdoor scrapers to the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8264" y="388620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56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0507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6CFE1"/>
                </a:solidFill>
              </a:rPr>
              <a:t>One-Click Apply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63600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Auto-fill application forms using
stored profile &amp; uploaded resume PDF.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8" y="3886200"/>
            <a:ext cx="3657600" cy="2286000"/>
          </a:xfrm>
          <a:prstGeom prst="rect">
            <a:avLst/>
          </a:prstGeom>
          <a:solidFill>
            <a:srgbClr val="1A1828"/>
          </a:solidFill>
          <a:ln w="9525">
            <a:solidFill>
              <a:srgbClr val="F7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40507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784E"/>
                </a:solidFill>
              </a:rPr>
              <a:t>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63600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A5B5"/>
                </a:solidFill>
              </a:rPr>
              <a:t>React Native cross-platform app
with push notification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6400800" cy="4572000"/>
          </a:xfrm>
          <a:prstGeom prst="rect">
            <a:avLst/>
          </a:prstGeom>
          <a:solidFill>
            <a:srgbClr val="1C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3200400"/>
            <a:ext cx="5486400" cy="4572000"/>
          </a:xfrm>
          <a:prstGeom prst="rect">
            <a:avLst/>
          </a:prstGeom>
          <a:solidFill>
            <a:srgbClr val="2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3904" y="2880360"/>
            <a:ext cx="4572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A5B5"/>
                </a:solidFill>
              </a:rPr>
              <a:t>ApplyAI  —  AI-Powered Job Application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2194560" cy="411480"/>
          </a:xfrm>
          <a:prstGeom prst="rect">
            <a:avLst/>
          </a:prstGeom>
          <a:solidFill>
            <a:srgbClr val="1A18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3FF"/>
                </a:solidFill>
              </a:rPr>
              <a:t>React 19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931920"/>
            <a:ext cx="2194560" cy="411480"/>
          </a:xfrm>
          <a:prstGeom prst="rect">
            <a:avLst/>
          </a:prstGeom>
          <a:solidFill>
            <a:srgbClr val="1A1828"/>
          </a:solidFill>
          <a:ln w="9525">
            <a:solidFill>
              <a:srgbClr val="43E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931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3E0AD"/>
                </a:solidFill>
              </a:rPr>
              <a:t>FastAPI + 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931920"/>
            <a:ext cx="2194560" cy="411480"/>
          </a:xfrm>
          <a:prstGeom prst="rect">
            <a:avLst/>
          </a:prstGeom>
          <a:solidFill>
            <a:srgbClr val="1A18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931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httpx + BeautifulSoup4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3931920"/>
            <a:ext cx="2194560" cy="411480"/>
          </a:xfrm>
          <a:prstGeom prst="rect">
            <a:avLst/>
          </a:prstGeom>
          <a:solidFill>
            <a:srgbClr val="1A1828"/>
          </a:solidFill>
          <a:ln w="9525">
            <a:solidFill>
              <a:srgbClr val="FF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931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584"/>
                </a:solidFill>
              </a:rPr>
              <a:t>JWT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63FF"/>
                </a:solidFill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880"/>
                </a:solidFill>
              </a:rPr>
              <a:t>GitHub  |  Final Year Project  |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